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621792"/>
            <a:ext cx="169164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BCCDDC"/>
                </a:solidFill>
                <a:latin typeface="Aptos"/>
              </a:defRPr>
            </a:pPr>
            <a:r>
              <a:t>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7955279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700" b="1">
                <a:solidFill>
                  <a:srgbClr val="FFFFFF"/>
                </a:solidFill>
                <a:latin typeface="Aptos Display"/>
              </a:defRPr>
            </a:pPr>
            <a:r>
              <a:t>Efficient Fine-Tuning of Code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15184"/>
            <a:ext cx="7909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0">
                <a:solidFill>
                  <a:srgbClr val="CAD8E5"/>
                </a:solidFill>
                <a:latin typeface="Aptos"/>
              </a:defRPr>
            </a:pPr>
            <a:r>
              <a:t>Single-GPU QLoRA vs Dual-GPU DeepSpeed ZeRO-2 under hardware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160520"/>
            <a:ext cx="2240280" cy="54864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599431"/>
            <a:ext cx="187452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Qwen2.5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0.5B-Instruct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2240280" cy="54864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599431"/>
            <a:ext cx="187452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CodeAlpaca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1,000 sample subset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2432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42432" y="4160520"/>
            <a:ext cx="2240280" cy="54864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4599431"/>
            <a:ext cx="187452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900 /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train /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4160520"/>
            <a:ext cx="2240280" cy="114300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4160520"/>
            <a:ext cx="2240280" cy="54864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4343400"/>
            <a:ext cx="18745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4599431"/>
            <a:ext cx="187452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5056631"/>
            <a:ext cx="1874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memory, speed,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97880"/>
            <a:ext cx="53035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 b="0">
                <a:solidFill>
                  <a:srgbClr val="BECCDA"/>
                </a:solidFill>
                <a:latin typeface="Aptos"/>
              </a:defRPr>
            </a:pPr>
            <a:r>
              <a:t>Talha Rashid, Bilal Fayyaz | Department of Computer Science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3E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ADBCCB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ADBCC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BASIC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51206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100" b="1">
                <a:solidFill>
                  <a:srgbClr val="0C1726"/>
                </a:solidFill>
                <a:latin typeface="Aptos Display"/>
              </a:defRPr>
            </a:pPr>
            <a:r>
              <a:t>Fine-tuning code LLMs is valuable, but the hardware bill arrives before the model improves.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59152"/>
            <a:ext cx="4892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Full-parameter training stresses GPU memory and runtime.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Single cloud notebook GPUs often cannot support full fine-tuning comfortably.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Distributed training improves throughput, but adds setup and synchronization complexity.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The project compares two practical efficiency paths on the same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2804" y="1458468"/>
            <a:ext cx="452628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526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82296" cy="91440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61848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039112"/>
            <a:ext cx="411480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Can the model fit?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2804" y="2784348"/>
            <a:ext cx="452628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4526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82296" cy="91440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294436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364992"/>
            <a:ext cx="411480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How fast does it train?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2804" y="4110228"/>
            <a:ext cx="452628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069080"/>
            <a:ext cx="45262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069080"/>
            <a:ext cx="82296" cy="91440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427024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4690872"/>
            <a:ext cx="411480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What loss is achieved?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BASE PAPER HIGHLIGHTED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" y="1367028"/>
            <a:ext cx="3429000" cy="20116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325880"/>
            <a:ext cx="82296" cy="201168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27048"/>
            <a:ext cx="30175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Base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301752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The provided IEEE paper compares Single-GPU QLoRA and Dual-GPU DeepSpeed ZeRO-2 for Qwen2.5-0.5B-Instruct on CodeAlpaca.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9412" y="1367028"/>
            <a:ext cx="3246120" cy="20116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325880"/>
            <a:ext cx="32461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325880"/>
            <a:ext cx="82296" cy="201168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2704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LoRA / QLoRA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47672"/>
            <a:ext cx="2834639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LoRA trains low-rank adapters. QLoRA loads the base model in 4-bit form and backpropagates into adapters.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14131" y="1367028"/>
            <a:ext cx="3246120" cy="20116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82127" y="1325880"/>
            <a:ext cx="32461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7" y="1325880"/>
            <a:ext cx="82296" cy="201168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52704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DeepSpeed 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1947672"/>
            <a:ext cx="2834639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ZeRO partitions optimizer states and gradients across workers; ZeRO-2 enables practical distributed full fine-tuning.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" y="3835908"/>
            <a:ext cx="3429000" cy="13258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3794760"/>
            <a:ext cx="34290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794760"/>
            <a:ext cx="82296" cy="132588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995928"/>
            <a:ext cx="30175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CodeAlpaca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16552"/>
            <a:ext cx="3017520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Prompt-completion code instruction examples are reformatted into question, reasoning, and answer blocks.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9412" y="3835908"/>
            <a:ext cx="3246120" cy="13258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07408" y="379476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3794760"/>
            <a:ext cx="82296" cy="1325880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99592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Hugging Face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416552"/>
            <a:ext cx="2834639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Transformers, Trainer, PEFT-style workflows, tokenizer handling, and metric capture support reproducibility.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14131" y="3835908"/>
            <a:ext cx="3246120" cy="13258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82127" y="379476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7" y="3794760"/>
            <a:ext cx="82296" cy="1325880"/>
          </a:xfrm>
          <a:prstGeom prst="rect">
            <a:avLst/>
          </a:prstGeom>
          <a:solidFill>
            <a:srgbClr val="DC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59" y="3995928"/>
            <a:ext cx="283463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Research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4416552"/>
            <a:ext cx="2834639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A practical comparison helps choose between accessible adapter tuning and faster distributed full-model updates.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WHAT THE STUDY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" y="1458468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7" y="1709928"/>
            <a:ext cx="502920" cy="502920"/>
          </a:xfrm>
          <a:prstGeom prst="round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4196" y="184571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7" y="1800453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81328" y="1800453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7" y="1890979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81328" y="1890979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7" y="1981504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1981504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7" y="2072030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072030"/>
            <a:ext cx="45720" cy="228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82495" y="161848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Implement QLoRA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5" y="2039112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Fine-tune Qwen2.5-0.5B-Instruct on a single Tesla T4 using 4-bit quantization and LoRA adapters.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8212" y="1458468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1417320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64808" y="1709928"/>
            <a:ext cx="502920" cy="502920"/>
          </a:xfrm>
          <a:prstGeom prst="round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00596" y="184571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1800453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67728" y="1800453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9088" y="1890979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7728" y="1890979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19088" y="1981504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7728" y="1981504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19088" y="2072030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7728" y="2072030"/>
            <a:ext cx="45720" cy="228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8896" y="161848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Implement ZeRO-2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2039112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Run full-parameter fine-tuning with DeepSpeed across two RTX A4000 GPUs.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" y="3332987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8" y="3291839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7" y="3584447"/>
            <a:ext cx="502920" cy="502920"/>
          </a:xfrm>
          <a:prstGeom prst="round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4196" y="372023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2687" y="3674973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81328" y="3674973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7" y="3765499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81328" y="3765499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2687" y="3856024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81328" y="3856024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2687" y="3946550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81328" y="3946550"/>
            <a:ext cx="45720" cy="228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82495" y="349300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Measure Trade-offs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82495" y="3913631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Compare trainable parameters, runtime, throughput, loss, memory, FLOPs, and GPU utilization.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8212" y="3332987"/>
            <a:ext cx="484632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36208" y="3291839"/>
            <a:ext cx="48463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64808" y="3584447"/>
            <a:ext cx="502920" cy="502920"/>
          </a:xfrm>
          <a:prstGeom prst="round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00596" y="3720236"/>
            <a:ext cx="231343" cy="2313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19088" y="3674973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7728" y="3674973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19088" y="3765499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67728" y="3765499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19088" y="3856024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67728" y="3856024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19088" y="3946550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967728" y="3946550"/>
            <a:ext cx="45720" cy="2286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3493008"/>
            <a:ext cx="370332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C1726"/>
                </a:solidFill>
                <a:latin typeface="Aptos Display"/>
              </a:defRPr>
            </a:pPr>
            <a:r>
              <a:t>Recommend Usage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68896" y="3913631"/>
            <a:ext cx="3703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Explain which method is better under constrained single-GPU versus multi-GPU conditions.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METHODOLOGY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Proposed Solution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25880"/>
            <a:ext cx="5212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 b="1">
                <a:solidFill>
                  <a:srgbClr val="0C1726"/>
                </a:solidFill>
                <a:latin typeface="Aptos"/>
              </a:defRPr>
            </a:pPr>
            <a:r>
              <a:t>Shared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" y="1824228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783080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82296" cy="8412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84248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404872"/>
            <a:ext cx="11064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CodeAlpaca 20K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22576" y="2212848"/>
            <a:ext cx="384048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75204" y="1824228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1783080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783080"/>
            <a:ext cx="82296" cy="841248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1984248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404872"/>
            <a:ext cx="11064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1,000 examples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61104" y="2212848"/>
            <a:ext cx="384048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13732" y="1824228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81728" y="1783080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81728" y="1783080"/>
            <a:ext cx="82296" cy="841248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984248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04872"/>
            <a:ext cx="11064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Q + R + 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99632" y="2212848"/>
            <a:ext cx="384048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52260" y="1824228"/>
            <a:ext cx="1517904" cy="8412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20256" y="1783080"/>
            <a:ext cx="15179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0256" y="1783080"/>
            <a:ext cx="82296" cy="841248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1984248"/>
            <a:ext cx="1106424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Tokenize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2404872"/>
            <a:ext cx="1106424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max length 512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880360" y="2633472"/>
            <a:ext cx="1097279" cy="82296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77639" y="2633472"/>
            <a:ext cx="2679193" cy="82296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10995" y="3497579"/>
            <a:ext cx="384048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78992" y="3456432"/>
            <a:ext cx="38404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" y="3456432"/>
            <a:ext cx="82296" cy="12984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35024" y="3657600"/>
            <a:ext cx="3429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Track A: QLoRA 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4078224"/>
            <a:ext cx="3429000" cy="58521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4-bit loading, LoRA adapters, FP16, gradient accumulation, single Tesla T4.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64124" y="3497579"/>
            <a:ext cx="3840480" cy="1298448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532120" y="3456432"/>
            <a:ext cx="38404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32120" y="3456432"/>
            <a:ext cx="82296" cy="1298448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88152" y="3657600"/>
            <a:ext cx="34290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Track B: DeepSpeed ZeRO-2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88152" y="4078224"/>
            <a:ext cx="3429000" cy="58521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FP16 full fine-tuning, optimizer and gradient partitioning, two RTX A4000 GPUs.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19472" y="4096512"/>
            <a:ext cx="5001768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372600" y="4096512"/>
            <a:ext cx="548640" cy="0"/>
          </a:xfrm>
          <a:prstGeom prst="line">
            <a:avLst/>
          </a:prstGeom>
          <a:ln w="19050">
            <a:solidFill>
              <a:srgbClr val="8A9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770364" y="3241548"/>
            <a:ext cx="1691640" cy="17830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38360" y="3200400"/>
            <a:ext cx="16916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38360" y="3200400"/>
            <a:ext cx="82296" cy="1783080"/>
          </a:xfrm>
          <a:prstGeom prst="rect">
            <a:avLst/>
          </a:prstGeom>
          <a:solidFill>
            <a:srgbClr val="DC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94392" y="3401568"/>
            <a:ext cx="12801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Compare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94392" y="3822191"/>
            <a:ext cx="12801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loss, runtime, throughput, memory, utilization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SAME TASK, DIFFERENT OPTIMIZATION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353312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6052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Single-GPU QLoRA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Dual-GPU DeepSpeed ZeRO-2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Platform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Google Colab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RunPod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GPU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 x Tesla T4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2 x RTX A4000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type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4-bit LoRA adapter tuning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Full-parameter fine-tuning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4-bit + FP16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FP16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Dataset split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900 train / 100 eval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900 train / 100 eval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Max sequence length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512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512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Epochs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Global steps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565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57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053328"/>
            <a:ext cx="9875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 b="0">
                <a:solidFill>
                  <a:srgbClr val="647180"/>
                </a:solidFill>
                <a:latin typeface="Aptos"/>
              </a:defRPr>
            </a:pPr>
            <a:r>
              <a:t>Source: paper Table I and methodology section.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ALIGNED TO THE PROVIDED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Fact-Checked Experimental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4964" y="1458468"/>
            <a:ext cx="2423160" cy="11430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2423160" cy="54864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20574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56232"/>
            <a:ext cx="20574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CodeAlpaca 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HuggingFaceH4 subset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2444" y="1458468"/>
            <a:ext cx="2423160" cy="11430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1417320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417320"/>
            <a:ext cx="2423160" cy="54864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600200"/>
            <a:ext cx="20574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856232"/>
            <a:ext cx="20574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13432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900 train, 100 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1458468"/>
            <a:ext cx="2423160" cy="11430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417320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2423160" cy="54864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20574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56232"/>
            <a:ext cx="20574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Qwen2.5-0.5B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13432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Instruct checkpoint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7404" y="1458468"/>
            <a:ext cx="2423160" cy="11430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15400" y="1417320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1417320"/>
            <a:ext cx="2423160" cy="54864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600200"/>
            <a:ext cx="20574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856232"/>
            <a:ext cx="20574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512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313432"/>
            <a:ext cx="2057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maximum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" y="3287268"/>
            <a:ext cx="4526280" cy="12801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" y="3246120"/>
            <a:ext cx="45262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3246120"/>
            <a:ext cx="82296" cy="12801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2" y="344728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QLoRA configuration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3867911"/>
            <a:ext cx="4114800" cy="5669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LoRA rank 16, alpha 32, dropout 0.05; target modules include q_proj, k_proj, v_proj, o_proj, gate_proj, up_proj, and down_proj.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05956" y="3287268"/>
            <a:ext cx="4526280" cy="12801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73952" y="3246120"/>
            <a:ext cx="45262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73952" y="3246120"/>
            <a:ext cx="82296" cy="12801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3447288"/>
            <a:ext cx="41148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ZeRO-2 configuration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4" y="3867911"/>
            <a:ext cx="4114800" cy="5669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FP16 training with gradient accumulation, reduce-scatter, all-gather partitioning, and contiguous gradients.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230368"/>
            <a:ext cx="9875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 b="0">
                <a:solidFill>
                  <a:srgbClr val="647180"/>
                </a:solidFill>
                <a:latin typeface="Aptos"/>
              </a:defRPr>
            </a:pPr>
            <a:r>
              <a:t>The earlier deck's core values were checked against the paper. This version keeps the paper's final reported QLoRA runtime of 2,829.545 s and losses of 0.448 / 0.823.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WHAT MADE THE PROJECT NON-TRIVIAL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Implementation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" y="1339595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298448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82296" cy="987552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99616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Single-GPU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4805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Colab's Tesla T4 could not comfortably support full fine-tuning, so QLoRA was used for the constrained track.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8212" y="1339595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298448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82296" cy="987552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9616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Distributed launch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4805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DeepSpeed required multi-GPU verification, config tuning, launcher commands, and synchronized metric collection.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" y="2820924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779776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779776"/>
            <a:ext cx="82296" cy="987552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80944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Comparison fairness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01568"/>
            <a:ext cx="44805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Hardware and epoch counts differ, so runtime and loss are interpreted as practical outcomes rather than a controlled benchmark.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8212" y="2820924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2779776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2779776"/>
            <a:ext cx="82296" cy="987552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980944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Telemetry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01568"/>
            <a:ext cx="44805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nvidia-smi snapshots and PyTorch peak memory report different views of memory behavior.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" y="4302252"/>
            <a:ext cx="4892040" cy="987552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4261104"/>
            <a:ext cx="48920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261104"/>
            <a:ext cx="82296" cy="987552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462272"/>
            <a:ext cx="4480559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Dataset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82896"/>
            <a:ext cx="448055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CodeAlpaca provides prompt-completion pairs, so a consistent reasoning template was inserted for the desired response format.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QLORA BASELINE VERSUS PROPOSED DISTRIBUTED FULL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Baseline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298448"/>
          <a:ext cx="6629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148840"/>
                <a:gridCol w="2148840"/>
              </a:tblGrid>
              <a:tr h="565785"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QLoRA Baseline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DeepSpeed ZeRO-2</a:t>
                      </a:r>
                    </a:p>
                  </a:txBody>
                  <a:tcPr marL="64008" marR="64008" marT="36576" marB="36576">
                    <a:solidFill>
                      <a:srgbClr val="0C1726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Trainable parameters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8,798,208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494,032,768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Trainable percentage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1.7497%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100.0000%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runtime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2,829.545 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247.091 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throughput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1.590 samples/s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3.642 samples/s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Training loss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0.448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0.792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Evaluation loss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0.823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0.616</a:t>
                      </a:r>
                    </a:p>
                  </a:txBody>
                  <a:tcPr marL="64008" marR="64008" marT="36576" marB="36576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Peak allocated memory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1.66 GB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1C2531"/>
                          </a:solidFill>
                          <a:latin typeface="Aptos"/>
                        </a:defRPr>
                      </a:pPr>
                      <a:r>
                        <a:t>5.9008 GB per rank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40396" y="1394460"/>
            <a:ext cx="3557016" cy="209397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08392" y="1353312"/>
            <a:ext cx="3557016" cy="20939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371600"/>
            <a:ext cx="352044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40396" y="3845052"/>
            <a:ext cx="3557016" cy="1911095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08392" y="3803904"/>
            <a:ext cx="3557016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3822191"/>
            <a:ext cx="3520440" cy="1874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SPEED AND LOSS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Graphical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" y="1321307"/>
            <a:ext cx="3465576" cy="21854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280160"/>
            <a:ext cx="3465576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98448"/>
            <a:ext cx="3429000" cy="2148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02836" y="1321307"/>
            <a:ext cx="3465576" cy="21854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280160"/>
            <a:ext cx="3465576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hrough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298448"/>
            <a:ext cx="3429000" cy="2148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7012" y="1321307"/>
            <a:ext cx="3465576" cy="21854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280160"/>
            <a:ext cx="3465576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ss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298448"/>
            <a:ext cx="3429000" cy="2148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0684" y="4201668"/>
            <a:ext cx="3291840" cy="10972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3291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160520"/>
            <a:ext cx="82296" cy="109728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361688"/>
            <a:ext cx="2880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782312"/>
            <a:ext cx="2880360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DeepSpeed finished the one-epoch run in 247.091 s versus 2,829.545 s for the five-epoch QLoRA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4276" y="4201668"/>
            <a:ext cx="3291840" cy="10972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62272" y="4160520"/>
            <a:ext cx="3291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4160520"/>
            <a:ext cx="82296" cy="1097280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4361688"/>
            <a:ext cx="2880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4782312"/>
            <a:ext cx="2880360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DeepSpeed reached 3.642 samples/s compared with 1.590 samples/s for QLoRA.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8724" y="4201668"/>
            <a:ext cx="3291840" cy="109728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0" y="4160520"/>
            <a:ext cx="3291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160520"/>
            <a:ext cx="82296" cy="1097280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361688"/>
            <a:ext cx="28803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782312"/>
            <a:ext cx="2880360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QLoRA had lower training loss; DeepSpeed had lower evaluation loss after full-parameter tuning.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LOSS TREND AND GPU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DeepSpeed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5236" y="1348739"/>
            <a:ext cx="5202936" cy="30998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07592"/>
            <a:ext cx="5202936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epspeed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166360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9924" y="1348739"/>
            <a:ext cx="4928616" cy="309981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07592"/>
            <a:ext cx="4928616" cy="3099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pu_uti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325880"/>
            <a:ext cx="4892040" cy="3063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92124" y="5024628"/>
            <a:ext cx="233172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983480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4983480"/>
            <a:ext cx="2331720" cy="54864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166360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GLOBAL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42239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87959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one epoch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43884" y="5024628"/>
            <a:ext cx="233172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11880" y="4983480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4983480"/>
            <a:ext cx="2331720" cy="54864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5166360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EVAL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542239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35.1/s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87959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samples per second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5644" y="5024628"/>
            <a:ext cx="233172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4983480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983480"/>
            <a:ext cx="2331720" cy="54864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166360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MAX UTIL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42239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87959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GPU 1 peak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47404" y="5024628"/>
            <a:ext cx="2331720" cy="91440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15400" y="4983480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4983480"/>
            <a:ext cx="2331720" cy="54864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5166360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647180"/>
                </a:solidFill>
                <a:latin typeface="Aptos"/>
              </a:defRPr>
            </a:pPr>
            <a:r>
              <a:t>AVG POWER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42239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0C1726"/>
                </a:solidFill>
                <a:latin typeface="Aptos Display"/>
              </a:defRPr>
            </a:pPr>
            <a:r>
              <a:t>~67 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87959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647180"/>
                </a:solidFill>
                <a:latin typeface="Aptos"/>
              </a:defRPr>
            </a:pPr>
            <a:r>
              <a:t>per GPU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THE BETTER APPROACH DEPENDS ON THE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Performance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8" y="1376172"/>
            <a:ext cx="5385816" cy="3191256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335024"/>
            <a:ext cx="5385816" cy="3191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deoff_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353312"/>
            <a:ext cx="534924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61404" y="1458468"/>
            <a:ext cx="4251960" cy="118872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42519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82296" cy="118872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6184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QLoRA optimizes 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2039112"/>
            <a:ext cx="384048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It updates only 1.7497% of parameters and stays within a low memory footprint on a single Tesla T4.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1404" y="2921508"/>
            <a:ext cx="4251960" cy="118872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2880360"/>
            <a:ext cx="42519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2880360"/>
            <a:ext cx="82296" cy="118872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308152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DeepSpeed optimizes full 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3502152"/>
            <a:ext cx="384048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It updates 100.0000% of parameters and reaches stronger throughput and lower evaluation loss with two GPUs.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1404" y="4384548"/>
            <a:ext cx="4251960" cy="118872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343400"/>
            <a:ext cx="42519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4343400"/>
            <a:ext cx="82296" cy="1188720"/>
          </a:xfrm>
          <a:prstGeom prst="rect">
            <a:avLst/>
          </a:prstGeom>
          <a:solidFill>
            <a:srgbClr val="DC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454456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Interpret carefully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4965192"/>
            <a:ext cx="384048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The runs are practical comparisons, not perfectly controlled hardware-neutral benchmarks.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647180"/>
                </a:solidFill>
                <a:latin typeface="Aptos"/>
              </a:defRPr>
            </a:pPr>
            <a:r>
              <a:t>HOW TO MAKE THE COMPARISON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0C1726"/>
                </a:solidFill>
                <a:latin typeface="Aptos Display"/>
              </a:defRPr>
            </a:pPr>
            <a:r>
              <a:t>Limitations and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1078992" cy="41148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Different hardware: Tesla T4 versus two RTX A4000 GPUs.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Different epoch counts: QLoRA used five epochs, DeepSpeed used one.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Reasoning text was synthetically inserted because CodeAlpaca contains prompt-completion pairs.</a:t>
            </a:r>
          </a:p>
          <a:p>
            <a:pPr>
              <a:spcAft>
                <a:spcPts val="900"/>
              </a:spcAft>
              <a:defRPr sz="1500">
                <a:solidFill>
                  <a:srgbClr val="1C2531"/>
                </a:solidFill>
                <a:latin typeface="Aptos"/>
              </a:defRPr>
            </a:pPr>
            <a:r>
              <a:t>Evaluation used loss and limited qualitative testing, not HumanEval or MBPP.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9964" y="1458468"/>
            <a:ext cx="4251960" cy="10515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4251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417320"/>
            <a:ext cx="82296" cy="1051560"/>
          </a:xfrm>
          <a:prstGeom prst="rect">
            <a:avLst/>
          </a:prstGeom>
          <a:solidFill>
            <a:srgbClr val="5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6184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Next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039112"/>
            <a:ext cx="3840480" cy="3383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Run matched epoch counts on equalized hardware budgets.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9964" y="2830068"/>
            <a:ext cx="4251960" cy="10515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788920"/>
            <a:ext cx="4251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788920"/>
            <a:ext cx="82296" cy="1051560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29900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Scale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3410712"/>
            <a:ext cx="3840480" cy="3383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Repeat with 5,000 or 10,000 CodeAlpaca examples.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9964" y="4201668"/>
            <a:ext cx="4251960" cy="1051560"/>
          </a:xfrm>
          <a:prstGeom prst="round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4160520"/>
            <a:ext cx="4251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4160520"/>
            <a:ext cx="82296" cy="1051560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4361688"/>
            <a:ext cx="38404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0C1726"/>
                </a:solidFill>
                <a:latin typeface="Aptos Display"/>
              </a:defRPr>
            </a:pPr>
            <a:r>
              <a:t>Add benchmarks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782312"/>
            <a:ext cx="3840480" cy="3383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 b="0">
                <a:solidFill>
                  <a:srgbClr val="647180"/>
                </a:solidFill>
                <a:latin typeface="Aptos"/>
              </a:defRPr>
            </a:pPr>
            <a:r>
              <a:t>Evaluate generated code using HumanEval, MBPP, or similar suites.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647180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64718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29184"/>
            <a:ext cx="10789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1">
                <a:solidFill>
                  <a:srgbClr val="BECCDA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2331720" cy="54864"/>
          </a:xfrm>
          <a:prstGeom prst="rect">
            <a:avLst/>
          </a:prstGeom>
          <a:solidFill>
            <a:srgbClr val="1F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QLORA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1.75%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trainable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331720" cy="54864"/>
          </a:xfrm>
          <a:prstGeom prst="rect">
            <a:avLst/>
          </a:prstGeom>
          <a:solidFill>
            <a:srgbClr val="EFB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DEEPSPEED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247.1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training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508760"/>
            <a:ext cx="2331720" cy="54864"/>
          </a:xfrm>
          <a:prstGeom prst="rect">
            <a:avLst/>
          </a:prstGeom>
          <a:solidFill>
            <a:srgbClr val="3DB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3.642/s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DeepSpeed samples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508760"/>
            <a:ext cx="2331720" cy="1097280"/>
          </a:xfrm>
          <a:prstGeom prst="roundRect">
            <a:avLst/>
          </a:prstGeom>
          <a:solidFill>
            <a:srgbClr val="14263D"/>
          </a:solidFill>
          <a:ln w="10160">
            <a:solidFill>
              <a:srgbClr val="34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508760"/>
            <a:ext cx="2331720" cy="54864"/>
          </a:xfrm>
          <a:prstGeom prst="rect">
            <a:avLst/>
          </a:prstGeom>
          <a:solidFill>
            <a:srgbClr val="4DA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691639"/>
            <a:ext cx="19659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00" b="1">
                <a:solidFill>
                  <a:srgbClr val="B3C3D2"/>
                </a:solidFill>
                <a:latin typeface="Aptos"/>
              </a:defRPr>
            </a:pPr>
            <a:r>
              <a:t>EVAL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947672"/>
            <a:ext cx="19659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0.616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404872"/>
            <a:ext cx="19659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B3C3D2"/>
                </a:solidFill>
                <a:latin typeface="Aptos"/>
              </a:defRPr>
            </a:pPr>
            <a:r>
              <a:t>DeepSpeed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310128"/>
            <a:ext cx="9601200" cy="530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QLoRA is the stronger choice for constrained single-GPU environments; DeepSpeed ZeRO-2 is better when multi-GPU resources make full-model adaptation practical.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15968"/>
            <a:ext cx="996696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CCDAE7"/>
                </a:solidFill>
                <a:latin typeface="Aptos"/>
              </a:defRPr>
            </a:pPr>
            <a:r>
              <a:t>The project demonstrates a reproducible, metric-backed comparison of memory efficiency, throughput, loss, and implementation complexity.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46520"/>
            <a:ext cx="10835640" cy="9144"/>
          </a:xfrm>
          <a:prstGeom prst="rect">
            <a:avLst/>
          </a:prstGeom>
          <a:solidFill>
            <a:srgbClr val="3E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 b="0">
                <a:solidFill>
                  <a:srgbClr val="ADBCCB"/>
                </a:solidFill>
                <a:latin typeface="Aptos"/>
              </a:defRPr>
            </a:pPr>
            <a:r>
              <a:t>PDC DeepSpeed Project | QLoRA vs ZeRO-2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850" b="0">
                <a:solidFill>
                  <a:srgbClr val="ADBCC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