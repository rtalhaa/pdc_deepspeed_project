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3" r:id="rId7"/>
    <p:sldId id="258" r:id="rId8"/>
    <p:sldId id="264" r:id="rId9"/>
    <p:sldId id="265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305" autoAdjust="0"/>
  </p:normalViewPr>
  <p:slideViewPr>
    <p:cSldViewPr snapToGrid="0" snapToObjects="1">
      <p:cViewPr varScale="1">
        <p:scale>
          <a:sx n="60" d="100"/>
          <a:sy n="60" d="100"/>
        </p:scale>
        <p:origin x="78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24F0A-26D2-4546-9FEE-5E8EFF9BAAE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8741D-4497-4BD7-AAEF-133EE3EB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44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presentation is based on Cluster 1 NLP, and it is a comparative research paper focused on efficient fine-tuning of large language models.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work, we compare single-GPU </a:t>
            </a:r>
            <a:r>
              <a:rPr lang="en-US" sz="2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QLoRA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dual-GPU </a:t>
            </a:r>
            <a:r>
              <a:rPr lang="en-US" sz="2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DeepSpeed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ZeRO-2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the Qwen2.5-0.5B-Instruct model and a 1,000-sample subset of the </a:t>
            </a:r>
            <a:r>
              <a:rPr lang="en-US" sz="2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CodeAlpaca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purpose of this study is to evaluate which approach is more practical under hardware constraints, particularly in terms of memory usage, runtime, and training efficiency.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11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 LLMs is valuable, but the hardware bill often arrives before the model improves.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Full-parameter training puts a heavy load on GPU memory and runtime.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cloud notebook GPUs often cannot support full fine-tuning comfortably.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 training can improve throughput, but it also adds setup and synchronization complexity.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this project compares two practical efficiency paths on the same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07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objective of this study is to implement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QLoRA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 single Tesla T4 GPU using 4-bit quantization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objective is to implement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DeepSpeed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ZeRO-2 for full-parameter fine-tuning across two RTX A4000 GPUs.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that, the project measures the trade-offs in terms of trainable parameters, runtime, throughput, loss, memory, FLOPs, and GPU utilization.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the goal is to recommend which approach is better under single-GPU and multi-GPU conditions.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3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workflow starts with similar preparation, where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CodeAlpaca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 is loaded, a sample is selected, and the data is formatted into a question, reasoning, and answer 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that, the text is tokenized with a maximum length of 512 tokens so both methods use the same input format.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there, the process splits into two tracks: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QLoRA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 single Tesla T4,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DeepSpeed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ZeRO-2 on two RTX A4000 GPUs.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both tracks are compared using loss, runtime, throughput, memory usage, and GPU utilization.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26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table shows that both methods solve the same task, but they use different optimization strategies.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QLoRA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runs on Google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Colab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one Tesla T4, using 4-bit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adapter tuning and 4-bit plus FP16 precision.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DeepSpeed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ZeRO-2 runs 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RunPod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two RTX A4000 GPUs, using full-parameter fine-tuning in FP16.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use the same dataset split and sequence length, but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QLoRA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trained for 5 epochs while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DeepSpeed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trained for 1 epoch, which is reflected in the global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54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challenge was the single-GPU limitation, because Colab’s Tesla T4 could not comfortably support full fine-tuning.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challenge was distributed launch complexity, since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DeepSpeed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required multi-GPU setup, configuration tuning, and synchronized metric collection.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comparison also needs to be read carefully, because the hardware are different, so the results reflect practical outcomes rather than a perfectly controlled benchmark.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telemetry had to be interpreted with care, since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nvidia-smi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peak memory report different views of memory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29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literature review is based on three areas. First, </a:t>
            </a:r>
            <a:r>
              <a:rPr lang="en-US" dirty="0" err="1"/>
              <a:t>LoRA</a:t>
            </a:r>
            <a:r>
              <a:rPr lang="en-US" dirty="0"/>
              <a:t> and </a:t>
            </a:r>
            <a:r>
              <a:rPr lang="en-US" dirty="0" err="1"/>
              <a:t>QLoRA</a:t>
            </a:r>
            <a:r>
              <a:rPr lang="en-US" dirty="0"/>
              <a:t> reduce the memory cost of fine-tuning by training adapters instead of all parameters. Second, </a:t>
            </a:r>
            <a:r>
              <a:rPr lang="en-US" dirty="0" err="1"/>
              <a:t>DeepSpeed</a:t>
            </a:r>
            <a:r>
              <a:rPr lang="en-US" dirty="0"/>
              <a:t> </a:t>
            </a:r>
            <a:r>
              <a:rPr lang="en-US" dirty="0" err="1"/>
              <a:t>ZeRO</a:t>
            </a:r>
            <a:r>
              <a:rPr lang="en-US" dirty="0"/>
              <a:t> reduces memory redundancy during distributed training. Third, </a:t>
            </a:r>
            <a:r>
              <a:rPr lang="en-US" dirty="0" err="1"/>
              <a:t>CodeAlpaca</a:t>
            </a:r>
            <a:r>
              <a:rPr lang="en-US" dirty="0"/>
              <a:t> provides code instruction data. Our research gap is practical: under hardware constraints, should a student or researcher use </a:t>
            </a:r>
            <a:r>
              <a:rPr lang="en-US" dirty="0" err="1"/>
              <a:t>QLoRA</a:t>
            </a:r>
            <a:r>
              <a:rPr lang="en-US" dirty="0"/>
              <a:t> on one GPU or </a:t>
            </a:r>
            <a:r>
              <a:rPr lang="en-US" dirty="0" err="1"/>
              <a:t>DeepSpeed</a:t>
            </a:r>
            <a:r>
              <a:rPr lang="en-US" dirty="0"/>
              <a:t> ZeRO-2 on multiple GPUs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47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 not claim a new fine-tuning algorithm. Our contribution is a practical comparison and implementation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22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QLoRA</a:t>
            </a:r>
            <a:r>
              <a:rPr lang="en-US" dirty="0"/>
              <a:t>: lower training </a:t>
            </a:r>
            <a:r>
              <a:rPr lang="en-US" dirty="0" err="1"/>
              <a:t>loss.DeepSpeed</a:t>
            </a:r>
            <a:r>
              <a:rPr lang="en-US" dirty="0"/>
              <a:t>: lower evaluation </a:t>
            </a:r>
            <a:r>
              <a:rPr lang="en-US" dirty="0" err="1"/>
              <a:t>loss.DeepSpeed</a:t>
            </a:r>
            <a:r>
              <a:rPr lang="en-US" dirty="0"/>
              <a:t> is not automatically better in every situation. It is better when multi-GPU hardware is available. </a:t>
            </a:r>
            <a:r>
              <a:rPr lang="en-US" dirty="0" err="1"/>
              <a:t>QLoRA</a:t>
            </a:r>
            <a:r>
              <a:rPr lang="en-US" dirty="0"/>
              <a:t> is better when memory and accessibility are the main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28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better approach depends on the constraint. </a:t>
            </a:r>
            <a:r>
              <a:rPr lang="en-US" dirty="0" err="1"/>
              <a:t>QLoRA</a:t>
            </a:r>
            <a:r>
              <a:rPr lang="en-US" dirty="0"/>
              <a:t> is better when we only have one limited GPU because it is memory-efficient and trains only adapters. </a:t>
            </a:r>
            <a:r>
              <a:rPr lang="en-US" dirty="0" err="1"/>
              <a:t>DeepSpeed</a:t>
            </a:r>
            <a:r>
              <a:rPr lang="en-US" dirty="0"/>
              <a:t> ZeRO-2 is better when we have multiple GPUs because it can train all parameters and achieve higher throughput. So our conclusion is constraint-dependent.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19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future work, we would use matched epochs, equalized hardware, larger data, and benchmarks like </a:t>
            </a:r>
            <a:r>
              <a:rPr lang="en-US" dirty="0" err="1"/>
              <a:t>HumanEval</a:t>
            </a:r>
            <a:r>
              <a:rPr lang="en-US" dirty="0"/>
              <a:t> or MBPP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51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takeaway is that neither method is universally better. </a:t>
            </a:r>
            <a:r>
              <a:rPr lang="en-US" dirty="0" err="1"/>
              <a:t>QLoRA</a:t>
            </a:r>
            <a:r>
              <a:rPr lang="en-US" dirty="0"/>
              <a:t> is the stronger option when memory is limited and only a single GPU is available. </a:t>
            </a:r>
            <a:r>
              <a:rPr lang="en-US" dirty="0" err="1"/>
              <a:t>DeepSpeed</a:t>
            </a:r>
            <a:r>
              <a:rPr lang="en-US" dirty="0"/>
              <a:t> ZeRO-2 is stronger when multi-GPU hardware is available and full-model adaptation is needed. </a:t>
            </a:r>
            <a:r>
              <a:rPr lang="en-US"/>
              <a:t>Our project shows this using concrete metrics: trainable parameters, runtime, throughput, memory, and 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37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741D-4497-4BD7-AAEF-133EE3EB87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28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621792"/>
            <a:ext cx="1691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BCCDDC"/>
                </a:solidFill>
                <a:latin typeface="Aptos"/>
              </a:defRPr>
            </a:pPr>
            <a:r>
              <a:t>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955279" cy="123110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Efficient Fine-Tuning of </a:t>
            </a:r>
            <a:r>
              <a:rPr lang="en-US" dirty="0"/>
              <a:t>Large</a:t>
            </a:r>
            <a:r>
              <a:rPr dirty="0"/>
              <a:t> Language Models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49808" y="2767584"/>
            <a:ext cx="7909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CAD8E5"/>
                </a:solidFill>
                <a:latin typeface="Aptos"/>
              </a:defRPr>
            </a:pPr>
            <a:r>
              <a:rPr dirty="0"/>
              <a:t>Single-GPU </a:t>
            </a:r>
            <a:r>
              <a:rPr dirty="0" err="1"/>
              <a:t>QLoRA</a:t>
            </a:r>
            <a:r>
              <a:rPr dirty="0"/>
              <a:t> vs Dual-GPU </a:t>
            </a:r>
            <a:r>
              <a:rPr dirty="0" err="1"/>
              <a:t>DeepSpeed</a:t>
            </a:r>
            <a:r>
              <a:rPr dirty="0"/>
              <a:t> ZeRO-2 under hardware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160520"/>
            <a:ext cx="2240280" cy="114300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4160520"/>
            <a:ext cx="2240280" cy="54864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4343400"/>
            <a:ext cx="18745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599431"/>
            <a:ext cx="187452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Qwen2.5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056631"/>
            <a:ext cx="1874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0.5B-Instruct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240280" cy="114300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2240280" cy="54864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4343400"/>
            <a:ext cx="18745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599431"/>
            <a:ext cx="187452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CodeAlpaca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056631"/>
            <a:ext cx="1874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rPr lang="en-US" dirty="0"/>
              <a:t>1</a:t>
            </a:r>
            <a:r>
              <a:rPr dirty="0"/>
              <a:t>,000 sample subset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2432" y="4160520"/>
            <a:ext cx="2240280" cy="114300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42432" y="4160520"/>
            <a:ext cx="2240280" cy="54864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25312" y="4343400"/>
            <a:ext cx="18745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4599431"/>
            <a:ext cx="1874520" cy="4462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900</a:t>
            </a:r>
            <a:r>
              <a:rPr dirty="0"/>
              <a:t> / 1</a:t>
            </a:r>
            <a:r>
              <a:rPr lang="en-US" dirty="0"/>
              <a:t>0</a:t>
            </a:r>
            <a:r>
              <a:rPr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5056631"/>
            <a:ext cx="1874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train /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4160520"/>
            <a:ext cx="2240280" cy="114300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38744" y="4160520"/>
            <a:ext cx="2240280" cy="54864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21624" y="4343400"/>
            <a:ext cx="18745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4599431"/>
            <a:ext cx="187452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5056631"/>
            <a:ext cx="1874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memory, speed,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97880"/>
            <a:ext cx="53035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 b="0">
                <a:solidFill>
                  <a:srgbClr val="BECCDA"/>
                </a:solidFill>
                <a:latin typeface="Aptos"/>
              </a:defRPr>
            </a:pPr>
            <a:r>
              <a:t>Talha Rashid, Bilal Fayyaz | Department of Computer Science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3E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ADBCCB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ADBCC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9385F2-5666-8385-18A5-669E6E30E99C}"/>
              </a:ext>
            </a:extLst>
          </p:cNvPr>
          <p:cNvSpPr txBox="1"/>
          <p:nvPr/>
        </p:nvSpPr>
        <p:spPr>
          <a:xfrm>
            <a:off x="758951" y="2195798"/>
            <a:ext cx="7909560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CAD8E5"/>
                </a:solidFill>
                <a:latin typeface="Aptos"/>
              </a:defRPr>
            </a:pPr>
            <a:r>
              <a:rPr lang="en-US" dirty="0"/>
              <a:t>Cluster 1 – NLP 				Comparative Research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53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BASIC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5120640" cy="106182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100" b="1">
                <a:solidFill>
                  <a:srgbClr val="0C1726"/>
                </a:solidFill>
                <a:latin typeface="Aptos Display"/>
              </a:defRPr>
            </a:pPr>
            <a:r>
              <a:rPr dirty="0"/>
              <a:t>Fine-tuning LLMs is valuable, but the hardware bill arrives before the model improves.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990088"/>
            <a:ext cx="48920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C2531"/>
                </a:solidFill>
                <a:latin typeface="Aptos"/>
              </a:defRPr>
            </a:pPr>
            <a:r>
              <a:rPr sz="1600" dirty="0"/>
              <a:t>Full-parameter</a:t>
            </a:r>
            <a:r>
              <a:rPr lang="en-US" sz="1600" dirty="0"/>
              <a:t> training</a:t>
            </a:r>
            <a:endParaRPr sz="1600" dirty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C2531"/>
                </a:solidFill>
                <a:latin typeface="Aptos"/>
              </a:defRPr>
            </a:pPr>
            <a:r>
              <a:rPr sz="1600" dirty="0"/>
              <a:t>Single cloud notebook GPUs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C2531"/>
                </a:solidFill>
                <a:latin typeface="Aptos"/>
              </a:defRPr>
            </a:pPr>
            <a:r>
              <a:rPr sz="1600" dirty="0"/>
              <a:t>Distributed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2804" y="1458468"/>
            <a:ext cx="452628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526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82296" cy="91440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618488"/>
            <a:ext cx="4114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039112"/>
            <a:ext cx="4114800" cy="2011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Can the model fit?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2804" y="2784348"/>
            <a:ext cx="452628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4526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82296" cy="91440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2" y="2944368"/>
            <a:ext cx="4114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364992"/>
            <a:ext cx="4114800" cy="2011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How fast does it train?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2804" y="4110228"/>
            <a:ext cx="452628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0" y="4069080"/>
            <a:ext cx="4526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4069080"/>
            <a:ext cx="82296" cy="91440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2" y="4270248"/>
            <a:ext cx="4114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4690872"/>
            <a:ext cx="4114800" cy="2011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What loss is achieved?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WHAT THE STUDY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1812" y="1458468"/>
            <a:ext cx="484632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48463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8407" y="1709928"/>
            <a:ext cx="502920" cy="502920"/>
          </a:xfrm>
          <a:prstGeom prst="round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14196" y="1845716"/>
            <a:ext cx="231343" cy="231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2687" y="1800453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81328" y="1800453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2687" y="1890979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81328" y="1890979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2687" y="1981504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81328" y="1981504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2687" y="2072030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81328" y="2072030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82495" y="1618488"/>
            <a:ext cx="3703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C1726"/>
                </a:solidFill>
                <a:latin typeface="Aptos Display"/>
              </a:defRPr>
            </a:pPr>
            <a:r>
              <a:t>Implement QLoRA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5" y="2039112"/>
            <a:ext cx="3703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Fine-tune Qwen2.5-0.5B-Instruct on a single Tesla T4 using 4-bit quantization and LoRA adapters.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8212" y="1458468"/>
            <a:ext cx="484632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36208" y="1417320"/>
            <a:ext cx="48463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64808" y="1709928"/>
            <a:ext cx="502920" cy="502920"/>
          </a:xfrm>
          <a:prstGeom prst="round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00596" y="1845716"/>
            <a:ext cx="231343" cy="231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19088" y="1800453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67728" y="1800453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9088" y="1890979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67728" y="1890979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9088" y="1981504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67728" y="1981504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9088" y="2072030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67728" y="2072030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68896" y="1618488"/>
            <a:ext cx="3703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C1726"/>
                </a:solidFill>
                <a:latin typeface="Aptos Display"/>
              </a:defRPr>
            </a:pPr>
            <a:r>
              <a:t>Implement ZeRO-2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2039112"/>
            <a:ext cx="3703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Run full-parameter fine-tuning with DeepSpeed across two RTX A4000 GPUs.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" y="3332987"/>
            <a:ext cx="484632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49808" y="3291839"/>
            <a:ext cx="48463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78407" y="3584447"/>
            <a:ext cx="502920" cy="502920"/>
          </a:xfrm>
          <a:prstGeom prst="round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14196" y="3720236"/>
            <a:ext cx="231343" cy="231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32687" y="3674973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481328" y="3674973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32687" y="3765499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81328" y="3765499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32687" y="3856024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81328" y="3856024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32687" y="3946550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81328" y="3946550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682495" y="3493008"/>
            <a:ext cx="3703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C1726"/>
                </a:solidFill>
                <a:latin typeface="Aptos Display"/>
              </a:defRPr>
            </a:pPr>
            <a:r>
              <a:t>Measure Trade-offs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82495" y="3913631"/>
            <a:ext cx="3703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Compare trainable parameters, runtime, throughput, loss, memory, FLOPs, and GPU utilization.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8212" y="3332987"/>
            <a:ext cx="484632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36208" y="3291839"/>
            <a:ext cx="48463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464808" y="3584447"/>
            <a:ext cx="502920" cy="502920"/>
          </a:xfrm>
          <a:prstGeom prst="round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600596" y="3720236"/>
            <a:ext cx="231343" cy="231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19088" y="3674973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67728" y="3674973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419088" y="3765499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967728" y="3765499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19088" y="3856024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67728" y="3856024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19088" y="3946550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967728" y="3946550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68896" y="3493008"/>
            <a:ext cx="3703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C1726"/>
                </a:solidFill>
                <a:latin typeface="Aptos Display"/>
              </a:defRPr>
            </a:pPr>
            <a:r>
              <a:t>Recommend Usage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68896" y="3913631"/>
            <a:ext cx="3703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Explain which method is better under constrained single-GPU versus multi-GPU conditions.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METHODOLOGY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078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rPr dirty="0"/>
              <a:t>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325880"/>
            <a:ext cx="5212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 b="1">
                <a:solidFill>
                  <a:srgbClr val="0C1726"/>
                </a:solidFill>
                <a:latin typeface="Aptos"/>
              </a:defRPr>
            </a:pPr>
            <a:r>
              <a:t>Shared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15668" y="1725585"/>
            <a:ext cx="1517904" cy="8412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83664" y="1684437"/>
            <a:ext cx="15179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83664" y="1684437"/>
            <a:ext cx="82296" cy="8412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9696" y="1885605"/>
            <a:ext cx="11064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2306229"/>
            <a:ext cx="11064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CodeAlpaca 20K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01568" y="2114205"/>
            <a:ext cx="384048" cy="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54196" y="1725585"/>
            <a:ext cx="1517904" cy="8412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22192" y="1684437"/>
            <a:ext cx="15179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22192" y="1684437"/>
            <a:ext cx="82296" cy="841248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78224" y="1885605"/>
            <a:ext cx="11064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2306229"/>
            <a:ext cx="1106424" cy="269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lang="en-US" dirty="0"/>
              <a:t>5</a:t>
            </a:r>
            <a:r>
              <a:rPr dirty="0"/>
              <a:t>,000 examples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40096" y="2114205"/>
            <a:ext cx="384048" cy="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92724" y="1725585"/>
            <a:ext cx="1517904" cy="8412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60720" y="1684437"/>
            <a:ext cx="15179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1684437"/>
            <a:ext cx="82296" cy="841248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16752" y="1885605"/>
            <a:ext cx="11064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306229"/>
            <a:ext cx="11064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Q + R + 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78624" y="2114205"/>
            <a:ext cx="384048" cy="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31252" y="1725585"/>
            <a:ext cx="1517904" cy="8412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99248" y="1684437"/>
            <a:ext cx="15179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99248" y="1684437"/>
            <a:ext cx="82296" cy="841248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0" y="1885605"/>
            <a:ext cx="11064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Tokenize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2306229"/>
            <a:ext cx="11064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max length 512</a:t>
            </a:r>
          </a:p>
        </p:txBody>
      </p:sp>
      <p:cxnSp>
        <p:nvCxnSpPr>
          <p:cNvPr id="30" name="Connector 29"/>
          <p:cNvCxnSpPr>
            <a:cxnSpLocks/>
            <a:stCxn id="29" idx="2"/>
          </p:cNvCxnSpPr>
          <p:nvPr/>
        </p:nvCxnSpPr>
        <p:spPr>
          <a:xfrm flipH="1">
            <a:off x="2880360" y="2434245"/>
            <a:ext cx="5628132" cy="1022187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  <a:stCxn id="26" idx="2"/>
            <a:endCxn id="38" idx="0"/>
          </p:cNvCxnSpPr>
          <p:nvPr/>
        </p:nvCxnSpPr>
        <p:spPr>
          <a:xfrm flipH="1">
            <a:off x="7452360" y="2525685"/>
            <a:ext cx="1005840" cy="930747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10995" y="3497579"/>
            <a:ext cx="384048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78992" y="3456432"/>
            <a:ext cx="38404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78992" y="3456432"/>
            <a:ext cx="82296" cy="12984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35024" y="3657600"/>
            <a:ext cx="3429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Track A: QLoRA Baseline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4078224"/>
            <a:ext cx="3429000" cy="58521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4-bit loading, LoRA adapters, FP16, gradient accumulation, single Tesla T4.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64124" y="3497579"/>
            <a:ext cx="384048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532120" y="3456432"/>
            <a:ext cx="38404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32120" y="3456432"/>
            <a:ext cx="82296" cy="1298448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88152" y="3657600"/>
            <a:ext cx="3429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Track B: DeepSpeed ZeRO-2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88152" y="4078224"/>
            <a:ext cx="3429000" cy="58521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FP16 full fine-tuning, optimizer and gradient partitioning, two RTX A4000 GPUs.</a:t>
            </a:r>
          </a:p>
        </p:txBody>
      </p:sp>
      <p:cxnSp>
        <p:nvCxnSpPr>
          <p:cNvPr id="42" name="Connector 41"/>
          <p:cNvCxnSpPr>
            <a:cxnSpLocks/>
          </p:cNvCxnSpPr>
          <p:nvPr/>
        </p:nvCxnSpPr>
        <p:spPr>
          <a:xfrm>
            <a:off x="2775204" y="4771570"/>
            <a:ext cx="1883664" cy="964004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cxnSpLocks/>
            <a:stCxn id="45" idx="3"/>
            <a:endCxn id="38" idx="2"/>
          </p:cNvCxnSpPr>
          <p:nvPr/>
        </p:nvCxnSpPr>
        <p:spPr>
          <a:xfrm flipV="1">
            <a:off x="6387083" y="4754880"/>
            <a:ext cx="1065277" cy="1128718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727447" y="5033206"/>
            <a:ext cx="1691640" cy="17830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695443" y="4992058"/>
            <a:ext cx="169164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695443" y="4992058"/>
            <a:ext cx="82296" cy="1783080"/>
          </a:xfrm>
          <a:prstGeom prst="rect">
            <a:avLst/>
          </a:prstGeom>
          <a:solidFill>
            <a:srgbClr val="DC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51475" y="5193226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Compare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51475" y="5613849"/>
            <a:ext cx="12801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dirty="0"/>
              <a:t>loss, runtime, throughput, memory, utilization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SAME TASK, DIFFERENT OPTIMIZATION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88820"/>
              </p:ext>
            </p:extLst>
          </p:nvPr>
        </p:nvGraphicFramePr>
        <p:xfrm>
          <a:off x="749808" y="1353312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Single-GPU QLoRA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Dual-GPU DeepSpeed ZeRO-2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Platform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Google Colab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RunPod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GPU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 x Tesla T4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2 x RTX A4000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Training type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4-bit LoRA adapter tuning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Full-parameter fine-tuning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4-bit + FP16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FP16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Dataset split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9</a:t>
                      </a:r>
                      <a:r>
                        <a:rPr dirty="0"/>
                        <a:t>00 train / 100 eval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9</a:t>
                      </a:r>
                      <a:r>
                        <a:rPr dirty="0"/>
                        <a:t>00 train / 100 eval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Max sequence length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512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512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Epochs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Global steps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565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285</a:t>
                      </a:r>
                      <a:endParaRPr dirty="0"/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053328"/>
            <a:ext cx="9875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 b="0">
                <a:solidFill>
                  <a:srgbClr val="647180"/>
                </a:solidFill>
                <a:latin typeface="Aptos"/>
              </a:defRPr>
            </a:pPr>
            <a:r>
              <a:t>Source: paper Table I and methodology section.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WHAT MADE THE PROJECT NON-TRIVIAL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Implementation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4108" y="1760219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1719072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2104" y="1719072"/>
            <a:ext cx="82296" cy="987552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" y="1920240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Single-GPU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203704"/>
            <a:ext cx="4480559" cy="4462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dirty="0"/>
              <a:t>Colab's Tesla T4 could not comfortably support full </a:t>
            </a:r>
            <a:r>
              <a:rPr lang="en-US" dirty="0"/>
              <a:t>20,000 parameters</a:t>
            </a:r>
            <a:r>
              <a:rPr dirty="0"/>
              <a:t>, so </a:t>
            </a:r>
            <a:r>
              <a:rPr lang="en-US" dirty="0"/>
              <a:t>lower samples were picked for comparison.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350508" y="1760219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18504" y="1719072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18504" y="1719072"/>
            <a:ext cx="82296" cy="987552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920240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Distributed launch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216606"/>
            <a:ext cx="44805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dirty="0" err="1"/>
              <a:t>DeepSpeed</a:t>
            </a:r>
            <a:r>
              <a:rPr dirty="0"/>
              <a:t> required multi-GPU verification, config tuning, launcher commands, and synchronized metric collection.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" y="3241548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2104" y="3200400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" y="3200400"/>
            <a:ext cx="82296" cy="987552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" y="3401568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Comparison fairness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3749040"/>
            <a:ext cx="4480559" cy="269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dirty="0"/>
              <a:t>Hardware </a:t>
            </a:r>
            <a:r>
              <a:rPr lang="en-US" dirty="0"/>
              <a:t>are </a:t>
            </a:r>
            <a:r>
              <a:rPr dirty="0"/>
              <a:t>differ</a:t>
            </a:r>
            <a:r>
              <a:rPr lang="en-US" dirty="0"/>
              <a:t>ent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350508" y="3241548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18504" y="3200400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18504" y="3200400"/>
            <a:ext cx="82296" cy="987552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74536" y="3401568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Telemetry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712464"/>
            <a:ext cx="44805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dirty="0" err="1"/>
              <a:t>nvidia-smi</a:t>
            </a:r>
            <a:r>
              <a:rPr dirty="0"/>
              <a:t> snapshots and </a:t>
            </a:r>
            <a:r>
              <a:rPr dirty="0" err="1"/>
              <a:t>PyTorch</a:t>
            </a:r>
            <a:r>
              <a:rPr dirty="0"/>
              <a:t> peak memory report different views of memory behavior.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BASE PAPER HIGHLIGHTED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1812" y="1367028"/>
            <a:ext cx="3429000" cy="20116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325880"/>
            <a:ext cx="82296" cy="201168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527048"/>
            <a:ext cx="30175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Base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3017520" cy="6232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lang="en-US" dirty="0"/>
              <a:t> ZeRO-2 &amp; </a:t>
            </a:r>
            <a:r>
              <a:rPr lang="en-US" dirty="0" err="1"/>
              <a:t>DeepSpeed</a:t>
            </a:r>
            <a:r>
              <a:rPr lang="en-US" dirty="0"/>
              <a:t>: Shattering barriers of deep learning speed &amp; scale</a:t>
            </a:r>
          </a:p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lang="en-US" dirty="0"/>
              <a:t>Published May 19, 2020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439412" y="1367028"/>
            <a:ext cx="3246120" cy="20116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7408" y="1325880"/>
            <a:ext cx="32461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325880"/>
            <a:ext cx="82296" cy="201168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527048"/>
            <a:ext cx="2834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LoRA / QLoRA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47672"/>
            <a:ext cx="2834639" cy="6232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lang="en-US" dirty="0" err="1"/>
              <a:t>QLoRA</a:t>
            </a:r>
            <a:r>
              <a:rPr lang="en-US" dirty="0"/>
              <a:t>: Efficient Finetuning of Quantized LLMs</a:t>
            </a:r>
          </a:p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lang="en-US" dirty="0"/>
              <a:t>Published</a:t>
            </a:r>
            <a:r>
              <a:rPr lang="en-US" sz="1150" i="1" dirty="0"/>
              <a:t> May 23, 2023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7914131" y="1367028"/>
            <a:ext cx="3246120" cy="20116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82127" y="1325880"/>
            <a:ext cx="32461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82127" y="1325880"/>
            <a:ext cx="82296" cy="201168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59" y="1527048"/>
            <a:ext cx="2834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DeepSpeed 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1947672"/>
            <a:ext cx="2834639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ZeRO partitions optimizer states and gradients across workers; ZeRO-2 enables practical distributed full fine-tuning.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" y="3835908"/>
            <a:ext cx="3429000" cy="13258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808" y="3794760"/>
            <a:ext cx="34290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3794760"/>
            <a:ext cx="82296" cy="132588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995928"/>
            <a:ext cx="30175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CodeAlpaca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16552"/>
            <a:ext cx="3017520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Prompt-completion code instruction examples are reformatted into question, reasoning, and answer blocks.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9412" y="3835908"/>
            <a:ext cx="3246120" cy="13258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07408" y="379476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07408" y="3794760"/>
            <a:ext cx="82296" cy="1325880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3995928"/>
            <a:ext cx="2834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Hugging Face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416552"/>
            <a:ext cx="2834639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Transformers, Trainer, PEFT-style workflows, tokenizer handling, and metric capture support reproducibility.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14131" y="3835908"/>
            <a:ext cx="3246120" cy="13258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882127" y="379476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82127" y="3794760"/>
            <a:ext cx="82296" cy="1325880"/>
          </a:xfrm>
          <a:prstGeom prst="rect">
            <a:avLst/>
          </a:prstGeom>
          <a:solidFill>
            <a:srgbClr val="DC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59" y="3995928"/>
            <a:ext cx="2834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Research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4416552"/>
            <a:ext cx="2834639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A practical comparison helps choose between accessible adapter tuning and faster distributed full-model updates.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QLORA BASELINE VERSUS PROPOSED DISTRIBUTED FULL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Baseline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298448"/>
          <a:ext cx="6629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l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QLoRA Baseline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DeepSpeed ZeRO-2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Trainable parameters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8,798,208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494,032,768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Trainable percentage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1.7497%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100.0000%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Training runtime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2,829.545 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247.091 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Training throughput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1.590 samples/s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3.642 samples/s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Training loss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0.448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0.792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Evaluation loss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0.823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0.616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Peak allocated memory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1.66 GB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5.9008 GB per rank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40396" y="1394460"/>
            <a:ext cx="3557016" cy="209397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08392" y="1353312"/>
            <a:ext cx="3557016" cy="2093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r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371600"/>
            <a:ext cx="352044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40396" y="3845052"/>
            <a:ext cx="3557016" cy="1911095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08392" y="3803904"/>
            <a:ext cx="3557016" cy="19110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em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3822191"/>
            <a:ext cx="3520440" cy="18745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SPEED AND LOSS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Graphical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660" y="1321307"/>
            <a:ext cx="3465576" cy="218541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280160"/>
            <a:ext cx="3465576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n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298448"/>
            <a:ext cx="3429000" cy="2148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02836" y="1321307"/>
            <a:ext cx="3465576" cy="218541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0832" y="1280160"/>
            <a:ext cx="3465576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hrough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298448"/>
            <a:ext cx="3429000" cy="2148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7012" y="1321307"/>
            <a:ext cx="3465576" cy="218541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65008" y="1280160"/>
            <a:ext cx="3465576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ss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298448"/>
            <a:ext cx="3429000" cy="21488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0684" y="4201668"/>
            <a:ext cx="3291840" cy="10972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4160520"/>
            <a:ext cx="3291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4160520"/>
            <a:ext cx="82296" cy="109728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4361688"/>
            <a:ext cx="2880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782312"/>
            <a:ext cx="2880360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DeepSpeed finished the one-epoch run in 247.091 s versus 2,829.545 s for the five-epoch QLoRA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4276" y="4201668"/>
            <a:ext cx="3291840" cy="10972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62272" y="4160520"/>
            <a:ext cx="3291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62272" y="4160520"/>
            <a:ext cx="82296" cy="1097280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4361688"/>
            <a:ext cx="2880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4782312"/>
            <a:ext cx="2880360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DeepSpeed reached 3.642 samples/s compared with 1.590 samples/s for QLoRA.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8724" y="4201668"/>
            <a:ext cx="3291840" cy="10972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46720" y="4160520"/>
            <a:ext cx="3291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4160520"/>
            <a:ext cx="82296" cy="109728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4361688"/>
            <a:ext cx="2880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782312"/>
            <a:ext cx="2880360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QLoRA had lower training loss; DeepSpeed had lower evaluation loss after full-parameter tuning.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THE BETTER APPROACH DEPENDS ON THE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Performance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8388" y="1376172"/>
            <a:ext cx="5385816" cy="319125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6384" y="1335024"/>
            <a:ext cx="5385816" cy="3191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radeoff_bub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353312"/>
            <a:ext cx="5349240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61404" y="1458468"/>
            <a:ext cx="4251960" cy="118872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29400" y="1417320"/>
            <a:ext cx="42519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82296" cy="118872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161848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QLoRA optimizes 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2039112"/>
            <a:ext cx="384048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It updates only 1.7497% of parameters and stays within a low memory footprint on a single Tesla T4.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1404" y="2921508"/>
            <a:ext cx="4251960" cy="118872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29400" y="2880360"/>
            <a:ext cx="42519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9400" y="2880360"/>
            <a:ext cx="82296" cy="118872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85432" y="308152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DeepSpeed optimizes full adaptation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3502152"/>
            <a:ext cx="384048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It updates 100.0000% of parameters and reaches stronger throughput and lower evaluation loss with two GPUs.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1404" y="4384548"/>
            <a:ext cx="4251960" cy="118872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29400" y="4343400"/>
            <a:ext cx="42519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4343400"/>
            <a:ext cx="82296" cy="1188720"/>
          </a:xfrm>
          <a:prstGeom prst="rect">
            <a:avLst/>
          </a:prstGeom>
          <a:solidFill>
            <a:srgbClr val="DC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85432" y="454456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Interpret carefully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4965192"/>
            <a:ext cx="384048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The runs are practical comparisons, not perfectly controlled hardware-neutral benchmarks.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HOW TO MAKE THE COMPARISON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Limitations and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Different hardware: Tesla T4 versus two RTX A4000 GPUs.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Different epoch counts: QLoRA used five epochs, DeepSpeed used one.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Reasoning text was synthetically inserted because CodeAlpaca contains prompt-completion pairs.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Evaluation used loss and limited qualitative testing, not HumanEval or MBPP.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9964" y="1458468"/>
            <a:ext cx="4251960" cy="105156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7960" y="1417320"/>
            <a:ext cx="4251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60" y="1417320"/>
            <a:ext cx="82296" cy="10515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161848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Next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039112"/>
            <a:ext cx="3840480" cy="3383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Run matched epoch counts on equalized hardware budgets.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9964" y="2830068"/>
            <a:ext cx="4251960" cy="105156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788920"/>
            <a:ext cx="4251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2788920"/>
            <a:ext cx="82296" cy="10515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93992" y="299008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Scale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3410712"/>
            <a:ext cx="3840480" cy="269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rPr dirty="0"/>
              <a:t>Repeat with </a:t>
            </a:r>
            <a:r>
              <a:rPr lang="en-US" dirty="0"/>
              <a:t>1</a:t>
            </a:r>
            <a:r>
              <a:rPr dirty="0"/>
              <a:t>5,000 or </a:t>
            </a:r>
            <a:r>
              <a:rPr lang="en-US" dirty="0"/>
              <a:t>2</a:t>
            </a:r>
            <a:r>
              <a:rPr dirty="0"/>
              <a:t>0,000 </a:t>
            </a:r>
            <a:r>
              <a:rPr dirty="0" err="1"/>
              <a:t>CodeAlpaca</a:t>
            </a:r>
            <a:r>
              <a:rPr dirty="0"/>
              <a:t> examples.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9964" y="4201668"/>
            <a:ext cx="4251960" cy="105156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37960" y="4160520"/>
            <a:ext cx="4251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37960" y="4160520"/>
            <a:ext cx="82296" cy="10515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93992" y="436168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Add benchmarks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782312"/>
            <a:ext cx="3840480" cy="3383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Evaluate generated code using HumanEval, MBPP, or similar suites.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BECCDA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331720" cy="109728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2331720" cy="54864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39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QLORA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1.75%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trainable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331720" cy="109728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331720" cy="54864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39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DEEPSPEED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4767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247.1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0487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training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508760"/>
            <a:ext cx="2331720" cy="109728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89320" y="1508760"/>
            <a:ext cx="2331720" cy="54864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1691639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4767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3.642/s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0487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DeepSpeed samples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508760"/>
            <a:ext cx="2331720" cy="109728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95360" y="1508760"/>
            <a:ext cx="2331720" cy="54864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1691639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EVAL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94767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0.616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40487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DeepSpeed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310128"/>
            <a:ext cx="9601200" cy="530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QLoRA is the stronger choice for constrained single-GPU environments; DeepSpeed ZeRO-2 is better when multi-GPU resources make full-model adaptation practical.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15968"/>
            <a:ext cx="996696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CCDAE7"/>
                </a:solidFill>
                <a:latin typeface="Aptos"/>
              </a:defRPr>
            </a:pPr>
            <a:r>
              <a:t>The project demonstrates a reproducible, metric-backed comparison of memory efficiency, throughput, loss, and implementation complexity.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3E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ADBCCB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ADBCC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2C787-974E-A4F9-C53A-CDF375E43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2600"/>
            <a:ext cx="12192000" cy="63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14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1737</Words>
  <Application>Microsoft Office PowerPoint</Application>
  <PresentationFormat>Widescreen</PresentationFormat>
  <Paragraphs>250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faris rashid</cp:lastModifiedBy>
  <cp:revision>20</cp:revision>
  <dcterms:created xsi:type="dcterms:W3CDTF">2013-01-27T09:14:16Z</dcterms:created>
  <dcterms:modified xsi:type="dcterms:W3CDTF">2026-05-06T05:11:35Z</dcterms:modified>
  <cp:category/>
</cp:coreProperties>
</file>